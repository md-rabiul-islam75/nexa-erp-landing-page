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SERVICES LIMITED  |  NEXALINX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Business, আপনার Control-এ।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Bangladesh-এ বানানো একটাই ERP — যেখানে আপনার পুরো business এক হাতে চলে।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212080"/>
            <a:ext cx="1051560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Services Limited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 </a:t>
            </a:r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BPDB  •  WZPDCL  •  DESCO  •  DPDC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একটি সহজ প্রশ্ন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আজকে কি আপনি এই উত্তরগুলো জানেন?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business চলছে — কিন্তু আপনি কি control-এ আছেন? নিচের প্রশ্নগুলোর উত্তর কি instantly দিতে পারবেন?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0" cy="187452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কোন product profit আনছে?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আজ পর্যন্ত কোন product-গুলো margin দিচ্ছে, কোনগুলো নিঃশব্দে loss করছে — জানেন?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0832" y="1920240"/>
            <a:ext cx="3657600" cy="187452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1945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9512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Cash এই মুহূর্তে কত?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99432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Real-time bank balance, receivable, payable — এক screen-এ দেখতে পান?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93024" y="1920240"/>
            <a:ext cx="3657600" cy="187452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1945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61704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কোন customer-এর payment due?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421624" y="2834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এই সপ্তাহে কারা late, কাদের follow-up দরকার — list ready আছে?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959352"/>
            <a:ext cx="3657600" cy="187452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33672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187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Stock-এ আসলে কী আছে?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" y="48737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Excel-এ যা লেখা — godown-এর সাথে কি মেলে? Variance কত?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370832" y="3959352"/>
            <a:ext cx="3657600" cy="187452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233672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39512" y="4187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এই মাসের sales target?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599432" y="48737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Daily progress দেখাচ্ছে — নাকি month-end-এ গিয়ে জানবেন miss?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193024" y="3959352"/>
            <a:ext cx="3657600" cy="187452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233672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61704" y="4187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VAT return ready?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8421624" y="487375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Mushak 6.3, AIT, monthly return — সব document audit-ready আছে কি?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Text 22"/>
          <p:cNvSpPr/>
          <p:nvPr/>
        </p:nvSpPr>
        <p:spPr>
          <a:xfrm>
            <a:off x="777240" y="5925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যদি একটারও উত্তর সঙ্গে সঙ্গে দিতে না পারেন — </a:t>
            </a:r>
            <a:pPr indent="0" marL="0">
              <a:buNone/>
            </a:pPr>
            <a:r>
              <a:rPr lang="en-US" sz="12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control-এ নেই —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data আপনাকে দৌড় করাচ্ছে।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2" name="Text 2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যে COST আপনি দেখেন না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প্রতি মাসে চুপচাপ কত টাকা leak হচ্ছে?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এই খরচগুলো invoice-এ আসে না — কিন্তু প্রতি মাসে আপনার business থেকে চলে যায়।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73152" cy="18745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Stockout-এ Lost Sale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৳২–৫ লাখ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/ মাসে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Customer এসেছেন, product নেই — সরাসরি competitor-এর কাছে চলে গেলেন।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0832" y="192024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0832" y="1920240"/>
            <a:ext cx="73152" cy="18745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1488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3792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Dead Stock-এ আটকে থাকা পুঁজি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99432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৳৫–১০ লাখ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99432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/ মাসে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99432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যে inventory বছর বছর pile up — cash-flow-এ frozen, কেউ দেখছে না।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93024" y="1920240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93024" y="1920240"/>
            <a:ext cx="73152" cy="18745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1488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15984" y="21031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Late Payment Recovery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421624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৳১–৩ লাখ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421624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/ মাসে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421624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Customer-রা ৬০-৯০ দিন pay করে — আপনার working capital তাঁরা use করছেন।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3959352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959352"/>
            <a:ext cx="73152" cy="18745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87952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4142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Manual Labour &amp; Rework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77240" y="4736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৳৫০হাজার–১ লাখ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777240" y="4736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/ মাসে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77240" y="5193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Excel মেলানো, double-entry, error fix — staff-এর সময় production-এ নয়, paperwork-এ।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370832" y="3959352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370832" y="3959352"/>
            <a:ext cx="73152" cy="18745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187952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93792" y="4142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VAT/NBR Penalty Risk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599432" y="4736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৳১+ লাখ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4599432" y="4736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/ মাসে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599432" y="5193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Mushak format ভুল, return late, audit finding — যেকোনো সময় penalty।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193024" y="3959352"/>
            <a:ext cx="36576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193024" y="3959352"/>
            <a:ext cx="73152" cy="18745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4187952"/>
            <a:ext cx="457200" cy="4572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015984" y="4142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Wrong Decision-এর Cost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8421624" y="4736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অপরিসীম</a:t>
            </a:r>
            <a:endParaRPr lang="en-US" sz="1800" dirty="0"/>
          </a:p>
        </p:txBody>
      </p:sp>
      <p:sp>
        <p:nvSpPr>
          <p:cNvPr id="45" name="Text 37"/>
          <p:cNvSpPr/>
          <p:nvPr/>
        </p:nvSpPr>
        <p:spPr>
          <a:xfrm>
            <a:off x="8421624" y="4736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/ মাসে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8421624" y="5193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Wrong number দেখে wrong decision — ভুল price, ভুল discount, ভুল hire।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8" name="Text 40"/>
          <p:cNvSpPr/>
          <p:nvPr/>
        </p:nvSpPr>
        <p:spPr>
          <a:xfrm>
            <a:off x="777240" y="5925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HIDDEN COST: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মাসে ৳৮–২০ লাখ। বছরে ১ কোটি+।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এটা আপনার pocket থেকে যাচ্ছে — চুপচাপ।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50" name="Text 42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কল্পনা করুন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Business এমন একটা সকাল।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920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সকাল ৮টা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88720" y="23042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Phone হাতে নিতেই গতকালের sales, today-এর pending, এই মাসের progress — এক screen-এ।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659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3720" y="1920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৫ তারিখে Books Closed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903720" y="23042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Month-end-এ ১৫ দিন reconciliation নয় — auto-close, auto-report, ৫ তারিখেই P&amp;L ready।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Customer ফোন করলেন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88720" y="35844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তাঁর last 12 months-এর order, due amount, preference — instantly আপনার সামনে।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24612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3720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VAT Audit এলে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903720" y="35844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Mushak 6.3, AIT, monthly return — সব document seconds-এ। Stress নেই।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2628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4480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Approval দরকার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188720" y="48646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Mobile-এ notification, এক tap-এ approve। PO আটকে নেই, business দাঁড়িয়ে নেই।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526280"/>
            <a:ext cx="502920" cy="5029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03720" y="4480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Decision নিচ্ছেন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903720" y="48646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Real number দেখে — guess করে নয়। কোন product cut করবেন, কোথায় invest, কে hire — data বলছে।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48640" y="5852160"/>
            <a:ext cx="11064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3" name="Text 15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এটা কল্পনা নয়। </a:t>
            </a:r>
            <a:pPr indent="0" marL="0">
              <a:buNone/>
            </a:pPr>
            <a:r>
              <a:rPr lang="en-US" sz="16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এটা NexaERP-এর সাথে আপনার business-এর প্রতিদিন।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47548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26060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Solution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754880" y="4023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NexaERP — যেভাবে আপনি আপনার business-কে control-এ ফিরিয়ে আনবেন।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|  AUTOMATION SERVICES LIMITED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NexaERP — এক system, এক truth, এক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"আপনার পুরো business — finance, sales, purchase, inventory, manufacturing, HR, payroll, LC, VAT — একটা system-এ চলে। এক database। এক truth। আপনার hand-এ control।"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3657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154680"/>
            <a:ext cx="73152" cy="288036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3429000"/>
            <a:ext cx="914400" cy="91440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359359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এক Database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১৬টি module এক source of truth share করে। Reconciliation নেই, mismatch নেই, surprise নেই।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70832" y="3154680"/>
            <a:ext cx="3657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0832" y="3154680"/>
            <a:ext cx="73152" cy="288036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Shape 11"/>
          <p:cNvSpPr/>
          <p:nvPr/>
        </p:nvSpPr>
        <p:spPr>
          <a:xfrm>
            <a:off x="5742432" y="3429000"/>
            <a:ext cx="914400" cy="91440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3593592"/>
            <a:ext cx="585216" cy="5852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53712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45152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প্রতিটি transaction সঙ্গে সঙ্গে GL-এ post। Dashboard live update। Nightly batch নেই।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93024" y="3154680"/>
            <a:ext cx="365760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93024" y="3154680"/>
            <a:ext cx="73152" cy="288036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0" name="Shape 16"/>
          <p:cNvSpPr/>
          <p:nvPr/>
        </p:nvSpPr>
        <p:spPr>
          <a:xfrm>
            <a:off x="9564624" y="3429000"/>
            <a:ext cx="914400" cy="91440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6" y="3593592"/>
            <a:ext cx="585216" cy="5852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75904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যেকোনো জায়গা থেকে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467344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Browser থেকে চলে। Mobile app আছে। Office, road, home — কোথাও থাকলে সমস্যা নেই।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১৬টি Module — আপনার business-এর প্রতিটি কাজে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7335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64992" y="150876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64992" y="150876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7373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79392" y="167335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81344" y="150876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181344" y="150876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7373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95744" y="167335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97696" y="150876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97696" y="150876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173736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912096" y="167335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260604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" y="260604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83464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27706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364992" y="260604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364992" y="260604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2834640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279392" y="27706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&amp; Import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181344" y="260604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181344" y="260604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2834640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95744" y="27706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97696" y="260604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8997696" y="260604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834640"/>
            <a:ext cx="548640" cy="54864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912096" y="27706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548640" y="37033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48640" y="370332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3931920"/>
            <a:ext cx="548640" cy="54864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463040" y="386791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3364992" y="37033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364992" y="370332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3592" y="3931920"/>
            <a:ext cx="548640" cy="54864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279392" y="386791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Costing</a:t>
            </a:r>
            <a:endParaRPr lang="en-US" sz="1300" dirty="0"/>
          </a:p>
        </p:txBody>
      </p:sp>
      <p:sp>
        <p:nvSpPr>
          <p:cNvPr id="44" name="Shape 32"/>
          <p:cNvSpPr/>
          <p:nvPr/>
        </p:nvSpPr>
        <p:spPr>
          <a:xfrm>
            <a:off x="6181344" y="37033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6181344" y="370332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9944" y="3931920"/>
            <a:ext cx="548640" cy="54864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095744" y="386791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48" name="Shape 35"/>
          <p:cNvSpPr/>
          <p:nvPr/>
        </p:nvSpPr>
        <p:spPr>
          <a:xfrm>
            <a:off x="8997696" y="370332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8997696" y="370332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6296" y="3931920"/>
            <a:ext cx="548640" cy="54864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9912096" y="386791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VAT, Tax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52" name="Shape 38"/>
          <p:cNvSpPr/>
          <p:nvPr/>
        </p:nvSpPr>
        <p:spPr>
          <a:xfrm>
            <a:off x="548640" y="480060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Shape 39"/>
          <p:cNvSpPr/>
          <p:nvPr/>
        </p:nvSpPr>
        <p:spPr>
          <a:xfrm>
            <a:off x="548640" y="480060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5029200"/>
            <a:ext cx="548640" cy="54864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1463040" y="496519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56" name="Shape 41"/>
          <p:cNvSpPr/>
          <p:nvPr/>
        </p:nvSpPr>
        <p:spPr>
          <a:xfrm>
            <a:off x="3364992" y="480060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7" name="Shape 42"/>
          <p:cNvSpPr/>
          <p:nvPr/>
        </p:nvSpPr>
        <p:spPr>
          <a:xfrm>
            <a:off x="3364992" y="480060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93592" y="5029200"/>
            <a:ext cx="548640" cy="54864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4279392" y="496519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00" dirty="0"/>
          </a:p>
        </p:txBody>
      </p:sp>
      <p:sp>
        <p:nvSpPr>
          <p:cNvPr id="60" name="Shape 44"/>
          <p:cNvSpPr/>
          <p:nvPr/>
        </p:nvSpPr>
        <p:spPr>
          <a:xfrm>
            <a:off x="6181344" y="480060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1" name="Shape 45"/>
          <p:cNvSpPr/>
          <p:nvPr/>
        </p:nvSpPr>
        <p:spPr>
          <a:xfrm>
            <a:off x="6181344" y="480060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9944" y="5029200"/>
            <a:ext cx="548640" cy="548640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7095744" y="496519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64" name="Shape 47"/>
          <p:cNvSpPr/>
          <p:nvPr/>
        </p:nvSpPr>
        <p:spPr>
          <a:xfrm>
            <a:off x="8997696" y="4800600"/>
            <a:ext cx="26974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5" name="Shape 48"/>
          <p:cNvSpPr/>
          <p:nvPr/>
        </p:nvSpPr>
        <p:spPr>
          <a:xfrm>
            <a:off x="8997696" y="4800600"/>
            <a:ext cx="73152" cy="100584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6296" y="5029200"/>
            <a:ext cx="548640" cy="548640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9912096" y="496519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Portals</a:t>
            </a:r>
            <a:endParaRPr lang="en-US" sz="1300" dirty="0"/>
          </a:p>
        </p:txBody>
      </p:sp>
      <p:sp>
        <p:nvSpPr>
          <p:cNvPr id="68" name="Shape 5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E8F7EB"/>
          </a:solidFill>
          <a:ln/>
        </p:spPr>
      </p:sp>
      <p:sp>
        <p:nvSpPr>
          <p:cNvPr id="69" name="Text 51"/>
          <p:cNvSpPr/>
          <p:nvPr/>
        </p:nvSpPr>
        <p:spPr>
          <a:xfrm>
            <a:off x="777240" y="5925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একটাই Platform: </a:t>
            </a:r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প্রতিটি module আপনার business-এর সাথে ১০ গুণ পর্যন্ত grow করতে পারে — system বদলাতে হবে না।</a:t>
            </a:r>
            <a:endParaRPr lang="en-US" sz="1200" dirty="0"/>
          </a:p>
        </p:txBody>
      </p:sp>
      <p:sp>
        <p:nvSpPr>
          <p:cNvPr id="70" name="Shape 5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71" name="Text 5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72" name="Text 5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Financial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books-এর full control — সব সময়, real-time, audit-ready।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178040" cy="39776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যা পাবেন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Books সব সময় ৫ তারিখে close — ১৫ তারিখে নয়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যেকোনো number-এ click করুন — original voucher পর্যন্ত drill করে নামুন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Multi-company, multi-branch, multi-currency — এক system-এ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Bank reconciliation মিনিটে — statement import দিয়ে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Auditor trail চিরকাল — প্রতিটি change log হয়, কেউ silently edit করতে পারে না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331720"/>
            <a:ext cx="3703320" cy="3977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1148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৫ তারিখ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9244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MONTH-END CLOSE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5440680"/>
            <a:ext cx="3063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"১৫ দিন reconciliation hell — শেষ।"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Customer Mastery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প্রতিটি customer, প্রতিটি order, প্রতিটি opportunity — এক জায়গায়।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178040" cy="39776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যা পাবেন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Field salesman mobile-এ order নেয় — offline-ও কাজ করে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Order entry-তেই credit limit instant check — bad debt-এর risk কমে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Layered discount: line, document, scheme, season — সব configure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Customer 360: তাঁর last 12 month order, payment, complaint — এক screen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Daily salesman scoreboard প্রতিদিন সকালে auto-email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331720"/>
            <a:ext cx="3703320" cy="3977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1148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9244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SALES TEAM PRODUCTIVITY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5440680"/>
            <a:ext cx="3063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"Salesman field-এ, manager office-এ — সবাই same data দেখছেন।"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Inventory Truth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Warehouse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Stock-এ যা দেখায়, তাই আছে। Real-time, accurate, traceable।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178040" cy="39776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যা পাবেন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Go-live-এর ৯০ দিনে ৯৮%+ stock accuracy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Barcode scan = instant GRN, instant GL update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FIFO, FEFO, weighted average — item অনুসারে আপনার choice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Defective batch সেকেন্ডে trace — full forward + backward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Stockout-এর আগে reorder alert — পরে নয়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331720"/>
            <a:ext cx="3703320" cy="3977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1148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9244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STOCK ACCURACY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5440680"/>
            <a:ext cx="3063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"আজ যে stock দেখাচ্ছে — godown-এ ঠিক তাই।"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Smart Buying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Procurement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Indent থেকে payment — auditor-এর control + buyer-এর speed।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178040" cy="39776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যা পাবেন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Three-way matching: PO, GRN, supplier invoice — auto-check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Supplier scorecard: quality, delivery, price দিয়ে rank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Indent stage-এ budget check — overspend surprise নেই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Mobile approval — boss-এর জন্য PO আটকে থাকে না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Live spend analysis: category, supplier, cost center অনুসারে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331720"/>
            <a:ext cx="3703320" cy="3977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1148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9244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PROCUREMENT CYCLE TIME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5440680"/>
            <a:ext cx="3063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"Indent থেকে PO — দিনে নয়, ঘণ্টায়।"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&amp; Payroll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Hire to retire — এক record-এ। ১০০০ staff-এর payroll, ৩০ মিনিটে।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178040" cy="39776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যা পাবেন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Biometric device integrate — manual attendance entry নেই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Mobile leave application, push-notification approval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Tax slab বদলালে admin ৫ মিনিটে update — code change নয়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BEFTN/RTGS bank advice — সরাসরি bank format-এ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Bilingual payslip — ইংরেজি/বাংলা, password-protected, auto-email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331720"/>
            <a:ext cx="3703320" cy="3977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1148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৩০ মিনিট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9244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১০০০ STAFF PAYROLL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5440680"/>
            <a:ext cx="3063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"৩ দিনের কাজ ৩০ মিনিটে। HR মানুষ-এর পেছনে কাজ করে, Excel-এ নয়।"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Production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Multi-level BOM থেকে shop-floor reality — প্রতিটি product-এর accurate cost।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178040" cy="39776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যা পাবেন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Material, labour, overhead, scrap — প্রতিটি product accurately cost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MRP open demand থেকে next month-এর purchase auto-plan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Operator tablet-এ start/stop/scrap report — কাগজ নেই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Live OEE dashboard — প্রতি machine, প্রতি shift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Batch genealogy: raw material lot থেকে finished good shipment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331720"/>
            <a:ext cx="3703320" cy="3977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1148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9244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OEE DASHBOARD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5440680"/>
            <a:ext cx="3063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"Plant-এ কে কী করছে — phone থেকে দেখুন।"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Import Made Simple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&amp; Import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PI থেকে landed cost — কোনো document হারাবে না।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178040" cy="39776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যা পাবেন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প্রতিটি LC-র এক screen-এ PI, opening, amendment, BOE, retirement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Landed cost auto-apportion: freight, duty, insurance — item cost-এ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Bank-এর SWIFT MT700/MT940 import — re-typing নেই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Bonded vs duty-paid stock segregation natively handle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FX gain/loss প্রতিটি settlement stage-এ auto-compute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331720"/>
            <a:ext cx="3703320" cy="3977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1148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9244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LOST DOCUMENTS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5440680"/>
            <a:ext cx="3063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"প্রতিটি BOE, প্রতিটি charge — এক screen-এ traceable।"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Compliance Built-In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VAT, Tax &amp; NBR Compliance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NBR-ready out of the box। প্রতিটি challan, return, format prescribed অনুসারে।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178040" cy="39776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আপনি যা পাবেন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7665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Mushak 6.3 প্রতিটি sales invoice-এ auto-generate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Mushak 9.1 monthly return — supporting register সহ ready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AIT/TDS supplier payment-এ auto-deduct, certificate auto-generate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Form 50 (annual salary tax certificate) — year-end-এ ready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Filing-এর পরে period locking — silent post-filing edit নেই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09560" y="2331720"/>
            <a:ext cx="3703320" cy="3977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1325880" cy="1325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92440" y="411480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92440" y="5029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NBR-COMPLIANT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0" y="5440680"/>
            <a:ext cx="3063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5778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"Audit এলে — Mushak সবকিছু ready। Stress নেই।"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ANYWHERE, ANYTIME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Dashboard ও Mobile — আপনার Business pocket-এ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457200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role-অনুসারে dashboard — real-time refresh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CEO: Revenue, margin, cash — এক screen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CFO: ৩০/৬০/৯০ দিনের cash forecast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Sales head: Daily scoreboard auto-email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Production head: Live OEE per machine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Drag-drop self-service report builder — IT ticket লাগে না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Power BI / Tableau / Metabase ready connection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1554480"/>
            <a:ext cx="73152" cy="457200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Native Android ও iOS — যেখানে আপনি, সেখানে business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92240" y="31089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Owner: Phone-এ live business view, যেকোনো জায়গা থেকে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Approval: One-tap PO, leave, expense approval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Salesman: Order entry offline-ও কাজ করে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Field staff: Geo-fenced attendance check-in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Warehouse: Barcode scan, stock count, transfer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Customer/Supplier portal — তাঁরা নিজেরাই self-service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6355080"/>
            <a:ext cx="11064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7" name="Shape 1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এক Click। পাঁচ Update। Zero Reconciliation।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দেখুন — এক warehouse staff goods receipt post করল। তারপর কী হলো: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3728" y="2194560"/>
            <a:ext cx="2103120" cy="23774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6688" y="2423160"/>
            <a:ext cx="457200" cy="457200"/>
          </a:xfrm>
          <a:prstGeom prst="ellipse">
            <a:avLst/>
          </a:prstGeom>
          <a:solidFill>
            <a:srgbClr val="28B83F"/>
          </a:solidFill>
          <a:ln/>
        </p:spPr>
      </p:sp>
      <p:sp>
        <p:nvSpPr>
          <p:cNvPr id="7" name="Text 5"/>
          <p:cNvSpPr/>
          <p:nvPr/>
        </p:nvSpPr>
        <p:spPr>
          <a:xfrm>
            <a:off x="13866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30632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5168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Goods Receipt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5168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Warehouse barcode scan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 rot="5400000">
            <a:off x="2685136" y="3346704"/>
            <a:ext cx="109728" cy="109728"/>
          </a:xfrm>
          <a:prstGeom prst="rtTriangle">
            <a:avLst/>
          </a:prstGeom>
          <a:solidFill>
            <a:srgbClr val="141414"/>
          </a:solidFill>
          <a:ln/>
        </p:spPr>
      </p:sp>
      <p:sp>
        <p:nvSpPr>
          <p:cNvPr id="12" name="Shape 9"/>
          <p:cNvSpPr/>
          <p:nvPr/>
        </p:nvSpPr>
        <p:spPr>
          <a:xfrm>
            <a:off x="2804008" y="2194560"/>
            <a:ext cx="2103120" cy="23774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26968" y="2423160"/>
            <a:ext cx="457200" cy="457200"/>
          </a:xfrm>
          <a:prstGeom prst="ellipse">
            <a:avLst/>
          </a:prstGeom>
          <a:solidFill>
            <a:srgbClr val="28B83F"/>
          </a:solidFill>
          <a:ln/>
        </p:spPr>
      </p:sp>
      <p:sp>
        <p:nvSpPr>
          <p:cNvPr id="14" name="Text 11"/>
          <p:cNvSpPr/>
          <p:nvPr/>
        </p:nvSpPr>
        <p:spPr>
          <a:xfrm>
            <a:off x="362696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08" y="306324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95448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Inventory ↑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895448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Stock + GL inventory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 rot="5400000">
            <a:off x="4925416" y="3346704"/>
            <a:ext cx="109728" cy="109728"/>
          </a:xfrm>
          <a:prstGeom prst="rtTriangle">
            <a:avLst/>
          </a:prstGeom>
          <a:solidFill>
            <a:srgbClr val="141414"/>
          </a:solidFill>
          <a:ln/>
        </p:spPr>
      </p:sp>
      <p:sp>
        <p:nvSpPr>
          <p:cNvPr id="19" name="Shape 15"/>
          <p:cNvSpPr/>
          <p:nvPr/>
        </p:nvSpPr>
        <p:spPr>
          <a:xfrm>
            <a:off x="5044288" y="2194560"/>
            <a:ext cx="2103120" cy="23774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867248" y="2423160"/>
            <a:ext cx="457200" cy="457200"/>
          </a:xfrm>
          <a:prstGeom prst="ellipse">
            <a:avLst/>
          </a:prstGeom>
          <a:solidFill>
            <a:srgbClr val="28B83F"/>
          </a:solidFill>
          <a:ln/>
        </p:spPr>
      </p:sp>
      <p:sp>
        <p:nvSpPr>
          <p:cNvPr id="21" name="Text 17"/>
          <p:cNvSpPr/>
          <p:nvPr/>
        </p:nvSpPr>
        <p:spPr>
          <a:xfrm>
            <a:off x="586724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3063240"/>
            <a:ext cx="731520" cy="7315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35728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AP তৈরি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35728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Supplier liability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 rot="5400000">
            <a:off x="7165696" y="3346704"/>
            <a:ext cx="109728" cy="109728"/>
          </a:xfrm>
          <a:prstGeom prst="rtTriangle">
            <a:avLst/>
          </a:prstGeom>
          <a:solidFill>
            <a:srgbClr val="141414"/>
          </a:solidFill>
          <a:ln/>
        </p:spPr>
      </p:sp>
      <p:sp>
        <p:nvSpPr>
          <p:cNvPr id="26" name="Shape 21"/>
          <p:cNvSpPr/>
          <p:nvPr/>
        </p:nvSpPr>
        <p:spPr>
          <a:xfrm>
            <a:off x="7284568" y="2194560"/>
            <a:ext cx="2103120" cy="23774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107528" y="2423160"/>
            <a:ext cx="457200" cy="457200"/>
          </a:xfrm>
          <a:prstGeom prst="ellipse">
            <a:avLst/>
          </a:prstGeom>
          <a:solidFill>
            <a:srgbClr val="28B83F"/>
          </a:solidFill>
          <a:ln/>
        </p:spPr>
      </p:sp>
      <p:sp>
        <p:nvSpPr>
          <p:cNvPr id="28" name="Text 23"/>
          <p:cNvSpPr/>
          <p:nvPr/>
        </p:nvSpPr>
        <p:spPr>
          <a:xfrm>
            <a:off x="810752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368" y="3063240"/>
            <a:ext cx="731520" cy="7315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76008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VAT Register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376008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Mushak 6.6 capture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 rot="5400000">
            <a:off x="9405976" y="3346704"/>
            <a:ext cx="109728" cy="109728"/>
          </a:xfrm>
          <a:prstGeom prst="rtTriangle">
            <a:avLst/>
          </a:prstGeom>
          <a:solidFill>
            <a:srgbClr val="141414"/>
          </a:solidFill>
          <a:ln/>
        </p:spPr>
      </p:sp>
      <p:sp>
        <p:nvSpPr>
          <p:cNvPr id="33" name="Shape 27"/>
          <p:cNvSpPr/>
          <p:nvPr/>
        </p:nvSpPr>
        <p:spPr>
          <a:xfrm>
            <a:off x="9524848" y="2194560"/>
            <a:ext cx="2103120" cy="237744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0347808" y="2423160"/>
            <a:ext cx="457200" cy="457200"/>
          </a:xfrm>
          <a:prstGeom prst="ellipse">
            <a:avLst/>
          </a:prstGeom>
          <a:solidFill>
            <a:srgbClr val="28B83F"/>
          </a:solidFill>
          <a:ln/>
        </p:spPr>
      </p:sp>
      <p:sp>
        <p:nvSpPr>
          <p:cNvPr id="35" name="Text 29"/>
          <p:cNvSpPr/>
          <p:nvPr/>
        </p:nvSpPr>
        <p:spPr>
          <a:xfrm>
            <a:off x="1034780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648" y="3063240"/>
            <a:ext cx="731520" cy="7315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16288" y="3886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616288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CEO instantly দেখেন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777240" y="5074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ONE click। FIVE update। ZERO re-entry। ZERO reconciliation।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77724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আজ আপনার system-এ এই এক transaction কতজনকে, কতগুলো screen, কতটা spreadsheet ছুঁয়ে যায়?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43" name="Text 3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47548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26060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কেন ASL?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754880" y="4023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Software-এর চেয়ে গুরুত্বপূর্ণ — পেছনের team। যারা বানায়, যারা দাঁড়ায়।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|  AUTOMATION SERVICES LIMITED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Automation Services Limited — আপনার Long-term Partner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"আমরা software vendor নই — আমরা partner। আপনার business-এর সাথে আমাদের business।"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57600" cy="1691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2402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২০১৬ থেকে enterprise software বানাচ্ছি — never missed a payroll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70832" y="2606040"/>
            <a:ext cx="3657600" cy="1691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3712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062472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62472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Cash-positive, financially stable, debt-free company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3024" y="2606040"/>
            <a:ext cx="3657600" cy="1691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9884664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84664" y="3337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NexaERP, NetBill360, DineDocket, AI ও আরও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462272"/>
            <a:ext cx="3657600" cy="1691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599432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2240280" y="4828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519379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Dhaka HQ + Long Island City, NY — local + global delivery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0832" y="4462272"/>
            <a:ext cx="3657600" cy="1691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53712" y="4599432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062472" y="4828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62472" y="519379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এই দেশে বানানো — outside vendor-এর পেছনে দৌড়াতে হবে না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93024" y="4462272"/>
            <a:ext cx="3657600" cy="1691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75904" y="4599432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9884664" y="4828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84664" y="519379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Bangla-তে support, phone, WhatsApp, email — যেভাবে আপনার সুবিধা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Mission-Critical-এ ভরসা। Bangladesh-এর জন্য তৈরি।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0116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MISSION-CRITICAL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2468880" cy="777240"/>
          </a:xfrm>
          <a:prstGeom prst="rect">
            <a:avLst/>
          </a:prstGeom>
          <a:solidFill>
            <a:srgbClr val="2C2C2C"/>
          </a:solidFill>
          <a:ln w="12700">
            <a:solidFill>
              <a:srgbClr val="28B8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BPDB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64992" y="2103120"/>
            <a:ext cx="2468880" cy="777240"/>
          </a:xfrm>
          <a:prstGeom prst="rect">
            <a:avLst/>
          </a:prstGeom>
          <a:solidFill>
            <a:srgbClr val="2C2C2C"/>
          </a:solidFill>
          <a:ln w="12700">
            <a:solidFill>
              <a:srgbClr val="28B8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WZPDCL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52744" y="2103120"/>
            <a:ext cx="2468880" cy="777240"/>
          </a:xfrm>
          <a:prstGeom prst="rect">
            <a:avLst/>
          </a:prstGeom>
          <a:solidFill>
            <a:srgbClr val="2C2C2C"/>
          </a:solidFill>
          <a:ln w="12700">
            <a:solidFill>
              <a:srgbClr val="28B8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52744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40496" y="2103120"/>
            <a:ext cx="2468880" cy="777240"/>
          </a:xfrm>
          <a:prstGeom prst="rect">
            <a:avLst/>
          </a:prstGeom>
          <a:solidFill>
            <a:srgbClr val="2C2C2C"/>
          </a:solidFill>
          <a:ln w="12700">
            <a:solidFill>
              <a:srgbClr val="28B8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0496" y="2103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যদি জাতীয় utility আমাদের ভরসা করে monthly billions of taka-র billing-এর জন্য — আপনার business safe hand-এ।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210312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4023360"/>
            <a:ext cx="6400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1520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ইংরেজি ও বাংলা — user-অনুসারে switch। SolaimanLipi সঠিক rendering।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64992" y="374904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64992" y="3749040"/>
            <a:ext cx="73152" cy="210312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4023360"/>
            <a:ext cx="640080" cy="6400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547872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NBR-Ready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3547872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Mushak 6.3, 9.1, AIT, Form 50 — prescribed format-এ out of the box।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181344" y="374904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81344" y="3749040"/>
            <a:ext cx="73152" cy="210312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44" y="4023360"/>
            <a:ext cx="640080" cy="6400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64224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Banks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364224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BEFTN, RTGS, SWIFT, all major Bangladesh banks pre-integrated।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997696" y="374904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997696" y="3749040"/>
            <a:ext cx="73152" cy="2103120"/>
          </a:xfrm>
          <a:prstGeom prst="rect">
            <a:avLst/>
          </a:prstGeom>
          <a:solidFill>
            <a:srgbClr val="28B83F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396" y="4023360"/>
            <a:ext cx="640080" cy="6400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80576" y="4754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Member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180576" y="5166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BACCO, E-CAB-এর active member। Industry standard adherent।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6" name="Text 30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47548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0" y="26060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Path Forward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754880" y="4023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প্রথম দিন থেকে control-এ — ৯০ দিনে আপনার business এক system-এ চলবে।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|  AUTOMATION SERVICES LIMITED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৯০ দিনে — Chaos থেকে Control-এ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Big-bang নয়, structured rollout। Wave-by-wave go-live, প্রতিটা step-এ আপনি comfortable।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5128" y="201168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5128" y="2011680"/>
            <a:ext cx="73152" cy="3931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518008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75208" y="2788920"/>
            <a:ext cx="914400" cy="9144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800" y="295351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2288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8008" y="44348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business process আমরা বুঝি। Pain point list করি। Priority setup করি।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66848" y="201168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66848" y="2011680"/>
            <a:ext cx="73152" cy="3931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1"/>
          <p:cNvSpPr/>
          <p:nvPr/>
        </p:nvSpPr>
        <p:spPr>
          <a:xfrm>
            <a:off x="2849728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06928" y="2788920"/>
            <a:ext cx="914400" cy="9144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520" y="2953512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04008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849728" y="44348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Chart of accounts, master data, workflow, approval matrix — আপনার business অনুসারে setup।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98568" y="201168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98568" y="2011680"/>
            <a:ext cx="73152" cy="3931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Text 17"/>
          <p:cNvSpPr/>
          <p:nvPr/>
        </p:nvSpPr>
        <p:spPr>
          <a:xfrm>
            <a:off x="5181448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7–10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638648" y="2788920"/>
            <a:ext cx="914400" cy="9144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2953512"/>
            <a:ext cx="585216" cy="58521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35728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Pilot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181448" y="44348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Role-based training বাংলায়। One process-এ pilot। আপনার team comfortable হয়।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330288" y="201168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30288" y="2011680"/>
            <a:ext cx="73152" cy="3931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8" name="Text 23"/>
          <p:cNvSpPr/>
          <p:nvPr/>
        </p:nvSpPr>
        <p:spPr>
          <a:xfrm>
            <a:off x="7513168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11–13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970368" y="2788920"/>
            <a:ext cx="914400" cy="91440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960" y="2953512"/>
            <a:ext cx="585216" cy="58521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67448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&amp; Go-Live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7513168" y="44348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Parallel run, data migration, final cutover। ৩০-day hyper-care support।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9662008" y="2011680"/>
            <a:ext cx="21945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662008" y="2011680"/>
            <a:ext cx="73152" cy="393192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5" name="Text 29"/>
          <p:cNvSpPr/>
          <p:nvPr/>
        </p:nvSpPr>
        <p:spPr>
          <a:xfrm>
            <a:off x="9844888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100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10302088" y="2788920"/>
            <a:ext cx="914400" cy="914400"/>
          </a:xfrm>
          <a:prstGeom prst="ellipse">
            <a:avLst/>
          </a:prstGeom>
          <a:solidFill>
            <a:srgbClr val="28B83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6680" y="2953512"/>
            <a:ext cx="585216" cy="58521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799168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Control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9844888" y="44348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Books ৫ তারিখে close। Real-time dashboard। Monthly review meeting আমাদের সাথে।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solidFill>
            <a:srgbClr val="E8F7EB"/>
          </a:solidFill>
          <a:ln/>
        </p:spPr>
      </p:sp>
      <p:sp>
        <p:nvSpPr>
          <p:cNvPr id="41" name="Text 34"/>
          <p:cNvSpPr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প্রতিটা phase-এ </a:t>
            </a:r>
            <a:pPr indent="0" marL="0">
              <a:buNone/>
            </a:pPr>
            <a:r>
              <a:rPr lang="en-US" sz="11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sign-off </a:t>
            </a:r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করেন — তারপর next step। কোনো surprise নেই।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43" name="Text 3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Numbers যা আপনার Business-এ Real Difference করে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17830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Month-End Close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১৫ দিন থেকে ৫ দিনে — accountant-এর সময় ফিরে আসে।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1554480"/>
            <a:ext cx="3657600" cy="17830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53712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~৮০% থেকে ৯৮%+। কম stockout, কম dead stock, কম write-off।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93024" y="1554480"/>
            <a:ext cx="3657600" cy="17830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375904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Cycle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904" y="2834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Indent থেকে PO ৫ দিন থেকে ২ দিনে। Better supplier terms।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3657600" cy="17830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6393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৩০ মিনিট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31520" y="4416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১০০০ Staff Payroll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782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৩ দিন থেকে ৩০ মিনিটে। Bank advice ready।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0832" y="3502152"/>
            <a:ext cx="3657600" cy="17830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53712" y="36393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553712" y="4416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Overhead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53712" y="4782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Sub-ledger থেকে GL — automatic। Spreadsheet নেই।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93024" y="3502152"/>
            <a:ext cx="3657600" cy="17830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75904" y="36393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১৪–১৮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375904" y="4416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Payback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75904" y="4782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Typical NexaERP customer ১৪–১৮ মাসে full investment recover করে।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925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প্রশ্ন এটা নয় — "এটা কি দামি?" </a:t>
            </a:r>
            <a:pPr indent="0" marL="0">
              <a:buNone/>
            </a:pPr>
            <a:r>
              <a:rPr lang="en-US" sz="13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প্রশ্ন এটা — "এটা না থাকার cost আমার কত?"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তিনটি Plan — আপনার Business-এর Stage অনুসারে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4389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Small business-এ control আনুন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329184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815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৳১০,০০০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657600"/>
            <a:ext cx="2926080" cy="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3904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৳২,০০০</a:t>
            </a:r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  /মাসে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১–২ users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Financial Accounts (basic)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Sales &amp; Invoicing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Inventory (basic)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VAT / Mushak 6.3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Bilingual (বাংলা / English)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5852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+ 2টি আরও feature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85232" y="14173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28B8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85232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0832" y="1737360"/>
            <a:ext cx="36576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70832" y="1737360"/>
            <a:ext cx="3657600" cy="4663440"/>
          </a:xfrm>
          <a:prstGeom prst="rect">
            <a:avLst/>
          </a:prstGeom>
          <a:ln w="31750">
            <a:solidFill>
              <a:srgbClr val="28B8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32" y="1737360"/>
            <a:ext cx="73152" cy="46634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53712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যেখানে বেশিরভাগ growing SME শুরু করে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53712" y="2880360"/>
            <a:ext cx="3291840" cy="1188720"/>
          </a:xfrm>
          <a:prstGeom prst="rect">
            <a:avLst/>
          </a:prstGeom>
          <a:solidFill>
            <a:srgbClr val="F1FBF3"/>
          </a:solidFill>
          <a:ln/>
        </p:spPr>
      </p:sp>
      <p:sp>
        <p:nvSpPr>
          <p:cNvPr id="25" name="Text 23"/>
          <p:cNvSpPr/>
          <p:nvPr/>
        </p:nvSpPr>
        <p:spPr>
          <a:xfrm>
            <a:off x="4645152" y="29443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45152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৳২০,০০০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36592" y="3520440"/>
            <a:ext cx="2926080" cy="0"/>
          </a:xfrm>
          <a:prstGeom prst="line">
            <a:avLst/>
          </a:prstGeom>
          <a:noFill/>
          <a:ln w="6350">
            <a:solidFill>
              <a:srgbClr val="8FE4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566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45152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৳১০,০০০</a:t>
            </a:r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  /মাসে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53712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১০ users পর্যন্ত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45152" y="4572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Starter-এর সব কিছু +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Purchase &amp; Procurement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HR &amp; Payroll (full)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Multi-warehouse Inventory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Customer / Supplier Portal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45152" y="5989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+ 4টি আরও feature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93024" y="187452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93024" y="1874520"/>
            <a:ext cx="73152" cy="4389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5" name="Text 33"/>
          <p:cNvSpPr/>
          <p:nvPr/>
        </p:nvSpPr>
        <p:spPr>
          <a:xfrm>
            <a:off x="8375904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375904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Scale-এ পৌঁছানো companies-এর জন্য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75904" y="3017520"/>
            <a:ext cx="329184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8467344" y="30815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67344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৳২,০০,০০০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558784" y="3657600"/>
            <a:ext cx="2926080" cy="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7344" y="3703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67344" y="3904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৳৮০,০০০</a:t>
            </a:r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  /মাসে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375904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Unlimited users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67344" y="47091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Business-এর সব কিছু +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Manufacturing &amp; Production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LC &amp; Import Management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Project &amp; Job Costing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Multi-company, Multi-branch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67344" y="5852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+ 5টি আরও feature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6400800"/>
            <a:ext cx="1106424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Small business-এ control আনুন — minimum investment-এ শুরু।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৳১০,০০০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60520" y="2011680"/>
            <a:ext cx="0" cy="77724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2286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৳২,০০০</a:t>
            </a:r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  /মাসে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092440" y="2011680"/>
            <a:ext cx="0" cy="77724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১–২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1363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Single-owner shop, startup, freelancer, ছোট trading business — যাঁরা Excel ছেড়ে professional system-এ যেতে চান।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40680" cy="24688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Financial Accounts (basic GL, voucher, ledger)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Sales &amp; Invoicing (single price list)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Customer Database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Inventory (single warehouse, basic)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Basic Reports (P&amp;L, Balance Sheet, Trial Balance)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VAT / Mushak 6.3 challan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40680" cy="24688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FEATURES (cont.)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206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Monthly VAT Return support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Bilingual (বাংলা / English)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Cloud-hosted (SaaS)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Mobile-friendly browser access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৫০ GB data storage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Email support (business hours)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 of 3 — RECOMMENDED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0" y="777240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28B8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MOST POPULAR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যেখানে বেশিরভাগ growing SME শুরু করে — সবচেয়ে ভালো value-for-money।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105156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৳২০,০০০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160520" y="2011680"/>
            <a:ext cx="0" cy="777240"/>
          </a:xfrm>
          <a:prstGeom prst="line">
            <a:avLst/>
          </a:prstGeom>
          <a:noFill/>
          <a:ln w="12700">
            <a:solidFill>
              <a:srgbClr val="8FE4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2286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৳১০,০০০</a:t>
            </a:r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  /মাসে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0" cy="777240"/>
          </a:xfrm>
          <a:prstGeom prst="line">
            <a:avLst/>
          </a:prstGeom>
          <a:noFill/>
          <a:ln w="12700">
            <a:solidFill>
              <a:srgbClr val="8FE4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১০ পর্যন্ত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1363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Growing SME, manufacturer, distributor, retail chain (৫–৫০ employees) — যাঁদের দরকার full operational control এবং proper professional team management।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5440680" cy="24688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Starter-এর সব কিছু +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Purchase &amp; Procurement (full PO, GRN, three-way match)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Multi-warehouse Inventory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HR Management (employee, attendance, leave)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Payroll (full, with bank advice)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Customer &amp; Supplier Portal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Live Dashboards (CEO, Sales, Operations)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Mobile App (Native Android &amp; iOS)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Bank Integration (BEFTN / RTGS)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794760"/>
            <a:ext cx="5440680" cy="24688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FEATURES (cont.)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206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Approval Workflow (PO, leave, expense)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৩০০+ standard reports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Multi-currency support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Document attachment (invoice, voucher)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২০০ GB data storage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Quarterly software updates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Free training (৮ hours)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Phone, WhatsApp, Email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Scale-এ পৌঁছানো established business-এর জন্য — full enterprise-grade capability।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৳২,০০,০০০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160520" y="2011680"/>
            <a:ext cx="0" cy="77724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2286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৳৮০,০০০</a:t>
            </a:r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  /মাসে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092440" y="2011680"/>
            <a:ext cx="0" cy="77724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Unlimited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1363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Established mid-to-large company (৫০+ employees), manufacturing, importer/exporter, multi-branch retail — যাঁদের দরকার complete enterprise capability + dedicated support।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40680" cy="24688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Business-এর সব কিছু +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Manufacturing &amp; Production (BOM, MRP, work order)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LC &amp; Import Management (full SWIFT integration)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Project &amp; Job Costing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Multi-company, Multi-branch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Advanced BI (Power BI / Tableau / Metabase ready)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Self-service Report Builder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Document &amp; Approval Workflow (full)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Advanced Security (SSO, SAML, RBAC)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Field/row-level access control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40680" cy="2468880"/>
          </a:xfrm>
          <a:prstGeom prst="rect">
            <a:avLst/>
          </a:prstGeom>
          <a:solidFill>
            <a:srgbClr val="F1FBF3"/>
          </a:solidFill>
          <a:ln w="9525">
            <a:solidFill>
              <a:srgbClr val="8FE49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FEATURES (cont.)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20624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Tamper-evident audit log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Custom development (40 hours/year included)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Dedicated Account Manager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24/7 Priority Support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Quarterly Business Review meeting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On-premise deployment option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Source code escrow option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Unlimited storage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Free training (40 hours)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SOFTWARE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Plan যাই হোক — এগুলো সব সময় Free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21488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1783080"/>
            <a:ext cx="731520" cy="73152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190195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Support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সমস্যা — বাংলায় solve হবে। English-এ confused হতে হবে না।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64992" y="1554480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4992" y="1554480"/>
            <a:ext cx="73152" cy="21488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2" name="Shape 9"/>
          <p:cNvSpPr/>
          <p:nvPr/>
        </p:nvSpPr>
        <p:spPr>
          <a:xfrm>
            <a:off x="4347972" y="1783080"/>
            <a:ext cx="731520" cy="73152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190195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Training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47872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Role-based training — finance team, sales team, owner আলাদা করে শিখবে।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81344" y="1554480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81344" y="1554480"/>
            <a:ext cx="73152" cy="21488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8" name="Shape 14"/>
          <p:cNvSpPr/>
          <p:nvPr/>
        </p:nvSpPr>
        <p:spPr>
          <a:xfrm>
            <a:off x="7164324" y="1783080"/>
            <a:ext cx="731520" cy="73152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6" y="190195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64224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Updates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64224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Bug fix, security patch, new feature — সব plan-এ free upgrade।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997696" y="1554480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997696" y="1554480"/>
            <a:ext cx="73152" cy="21488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4" name="Shape 19"/>
          <p:cNvSpPr/>
          <p:nvPr/>
        </p:nvSpPr>
        <p:spPr>
          <a:xfrm>
            <a:off x="9980676" y="1783080"/>
            <a:ext cx="731520" cy="73152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9548" y="1901952"/>
            <a:ext cx="493776" cy="4937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0576" y="2651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180576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SaaS plan-এ hosting, backup, monitoring — সব আমাদের দায়িত্বে।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3822192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48640" y="3822192"/>
            <a:ext cx="73152" cy="21488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0" name="Shape 24"/>
          <p:cNvSpPr/>
          <p:nvPr/>
        </p:nvSpPr>
        <p:spPr>
          <a:xfrm>
            <a:off x="1531620" y="4050792"/>
            <a:ext cx="731520" cy="73152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492" y="4169664"/>
            <a:ext cx="493776" cy="49377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1520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31520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Encrypted in transit ও at rest। Daily backup। Tested DR plan।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364992" y="3822192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364992" y="3822192"/>
            <a:ext cx="73152" cy="21488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6" name="Shape 29"/>
          <p:cNvSpPr/>
          <p:nvPr/>
        </p:nvSpPr>
        <p:spPr>
          <a:xfrm>
            <a:off x="4347972" y="4050792"/>
            <a:ext cx="731520" cy="73152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844" y="4169664"/>
            <a:ext cx="493776" cy="49377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547872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3547872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User manual, video tutorial — বাংলায় ও ইংরেজিতে।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181344" y="3822192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181344" y="3822192"/>
            <a:ext cx="73152" cy="21488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42" name="Shape 34"/>
          <p:cNvSpPr/>
          <p:nvPr/>
        </p:nvSpPr>
        <p:spPr>
          <a:xfrm>
            <a:off x="7164324" y="4050792"/>
            <a:ext cx="731520" cy="73152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3196" y="4169664"/>
            <a:ext cx="493776" cy="49377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364224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6364224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User group, knowledge base, monthly webinar — best practice শিখুন।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8997696" y="3822192"/>
            <a:ext cx="26974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8997696" y="3822192"/>
            <a:ext cx="73152" cy="21488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48" name="Shape 39"/>
          <p:cNvSpPr/>
          <p:nvPr/>
        </p:nvSpPr>
        <p:spPr>
          <a:xfrm>
            <a:off x="9980676" y="4050792"/>
            <a:ext cx="731520" cy="731520"/>
          </a:xfrm>
          <a:prstGeom prst="ellipse">
            <a:avLst/>
          </a:prstGeom>
          <a:solidFill>
            <a:srgbClr val="E8F7EB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9548" y="4169664"/>
            <a:ext cx="493776" cy="493776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180576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Updates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9180576" y="5285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NBR rule বদলালে — আমরা update করব। আপনার team-কে তা নিয়ে চিন্তা করতে হবে না।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E8F7EB"/>
          </a:solidFill>
          <a:ln/>
        </p:spPr>
      </p:sp>
      <p:sp>
        <p:nvSpPr>
          <p:cNvPr id="53" name="Text 43"/>
          <p:cNvSpPr/>
          <p:nvPr/>
        </p:nvSpPr>
        <p:spPr>
          <a:xfrm>
            <a:off x="777240" y="59253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এগুলো hidden cost নয় — </a:t>
            </a:r>
            <a:pPr indent="0" marL="0">
              <a:buNone/>
            </a:pPr>
            <a:r>
              <a:rPr lang="en-US" sz="12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সব plan-এ included। </a:t>
            </a:r>
            <a:pPr indent="0" marL="0">
              <a:buNone/>
            </a:pPr>
            <a:r>
              <a:rPr lang="en-US" sz="1200" i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Surprise extra charge আমাদের philosophy-তে নেই।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55" name="Text 45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56" name="Text 46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এক মুহূর্তে যা পরিষ্কার হয়ে যাবে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পাশাপাশি রাখুন — "কিছু না করা"-র cost আর "করা"-র cost। নিজেই দেখুন।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5440680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NEXAERP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প্রতি মাসে hidden 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Stockout / Lost Sale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৳২–৫ লাখ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246120"/>
            <a:ext cx="5029200" cy="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Dead Stock-এ আটকানো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৳৫–১০ লাখ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5029200" cy="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03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Late Payment Recovery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৳১–৩ লাখ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5029200" cy="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Manual Labour &amp; Rework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৳৫০হাজার–১ লাখ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480560"/>
            <a:ext cx="5029200" cy="0"/>
          </a:xfrm>
          <a:prstGeom prst="line">
            <a:avLst/>
          </a:prstGeom>
          <a:noFill/>
          <a:ln w="6350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VAT/NBR Penalty 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৳১+ লাখ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544068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মাসে ৳৮–২০ লাখ leak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1828800"/>
            <a:ext cx="54406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28B8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828800"/>
            <a:ext cx="5440680" cy="54864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NEXAERP — BUSINESS PLAN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total investment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926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৳২০,০০০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400800" y="34564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0" y="40233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৳১০,০০০</a:t>
            </a:r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  /মাসে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00800" y="4526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4937760"/>
            <a:ext cx="5029200" cy="0"/>
          </a:xfrm>
          <a:prstGeom prst="line">
            <a:avLst/>
          </a:prstGeom>
          <a:noFill/>
          <a:ln w="12700">
            <a:solidFill>
              <a:srgbClr val="8FE4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দিনে মাত্র ৳৩৩৩ — এক চা-নাশতার দাম।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5486400"/>
            <a:ext cx="5440680" cy="45720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প্রথম মাসেই full investment recover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আজই শুরু করুন — তিনটি Simple Step-এ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393192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2057400"/>
            <a:ext cx="1005840" cy="1005840"/>
          </a:xfrm>
          <a:prstGeom prst="ellipse">
            <a:avLst/>
          </a:prstGeom>
          <a:solidFill>
            <a:srgbClr val="28B8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4520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Demo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00200" y="3776472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F7EB"/>
          </a:solidFill>
          <a:ln w="6350">
            <a:solidFill>
              <a:srgbClr val="8FE4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3776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৩০ মিনিট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business-এর জন্য customized demo। আপনার data, আপনার process — তাতে কীভাবে কাজ করবে দেখান।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178308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70832" y="1783080"/>
            <a:ext cx="73152" cy="393192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14" name="Shape 12"/>
          <p:cNvSpPr/>
          <p:nvPr/>
        </p:nvSpPr>
        <p:spPr>
          <a:xfrm>
            <a:off x="5696712" y="2057400"/>
            <a:ext cx="1005840" cy="1005840"/>
          </a:xfrm>
          <a:prstGeom prst="ellipse">
            <a:avLst/>
          </a:prstGeom>
          <a:solidFill>
            <a:srgbClr val="28B8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96712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53712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Run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22392" y="3776472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F7EB"/>
          </a:solidFill>
          <a:ln w="6350">
            <a:solidFill>
              <a:srgbClr val="8FE4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2392" y="3776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২ সপ্তাহ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4297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এক process বা branch-এ পরীক্ষামূলক চালান। আপনার team comfortable হলে next step।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3024" y="178308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93024" y="1783080"/>
            <a:ext cx="73152" cy="393192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2" name="Shape 20"/>
          <p:cNvSpPr/>
          <p:nvPr/>
        </p:nvSpPr>
        <p:spPr>
          <a:xfrm>
            <a:off x="9518904" y="2057400"/>
            <a:ext cx="1005840" cy="1005840"/>
          </a:xfrm>
          <a:prstGeom prst="ellipse">
            <a:avLst/>
          </a:prstGeom>
          <a:solidFill>
            <a:srgbClr val="28B83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518904" y="2057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8375904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44584" y="3776472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8F7EB"/>
          </a:solidFill>
          <a:ln w="6350">
            <a:solidFill>
              <a:srgbClr val="8FE4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4584" y="37764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৯০ দিন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67344" y="42976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Full rollout, training, cutover, hyper-care। ১০০ দিনের মধ্যে আপনি পুরো control-এ।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141414"/>
          </a:solidFill>
          <a:ln w="95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971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Risk-free শুরু: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Demo free। Pilot-এ commit করতে হবে না। Comfortable হলে full deal।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65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NexaERP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Automation Services Limited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BEGIN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Business-কে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Control-এ নিয়ে আসুন।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45720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37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কাল নয় — আজ। প্রতি মাস delay মানে আরও ৫–১০ লাখ টাকার hidden cost।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10698480" cy="1783080"/>
          </a:xfrm>
          <a:prstGeom prst="rect">
            <a:avLst/>
          </a:prstGeom>
          <a:solidFill>
            <a:srgbClr val="2C2C2C"/>
          </a:solidFill>
          <a:ln w="9525">
            <a:solidFill>
              <a:srgbClr val="28B8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160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Sales Team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WhatsApp / Voice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info@nexalinx.com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B0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Demo schedule করুন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0" y="4846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 •  New York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5212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nexalinx.com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943600"/>
            <a:ext cx="10972800" cy="36576"/>
          </a:xfrm>
          <a:prstGeom prst="rect">
            <a:avLst/>
          </a:prstGeom>
          <a:solidFill>
            <a:srgbClr val="28B83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Bangladesh-এ বানানো  </a:t>
            </a:r>
            <a:pPr indent="0" marL="0">
              <a:buNone/>
            </a:pPr>
            <a:r>
              <a:rPr lang="en-US" sz="14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Bangladesh-এর জন্য  </a:t>
            </a:r>
            <a:pPr indent="0" marL="0">
              <a:buNone/>
            </a:pPr>
            <a:r>
              <a:rPr lang="en-US" sz="14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400" b="1" i="1" dirty="0">
                <a:solidFill>
                  <a:srgbClr val="28B83F"/>
                </a:solidFill>
                <a:latin typeface="SolaimanLipi" pitchFamily="34" charset="0"/>
                <a:ea typeface="SolaimanLipi" pitchFamily="34" charset="-122"/>
                <a:cs typeface="SolaimanLipi" pitchFamily="34" charset="-120"/>
              </a:rPr>
              <a:t>আপনার Business-এর সাথে।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9441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8B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NexaERP — আপনার Business, আপনার Control-এ</dc:title>
  <dc:subject>Customer presentation (Bangla)</dc:subject>
  <dc:creator>Automation Services Limited</dc:creator>
  <cp:lastModifiedBy>Automation Services Limited</cp:lastModifiedBy>
  <cp:revision>1</cp:revision>
  <dcterms:created xsi:type="dcterms:W3CDTF">2026-05-05T13:02:27Z</dcterms:created>
  <dcterms:modified xsi:type="dcterms:W3CDTF">2026-05-05T13:02:27Z</dcterms:modified>
</cp:coreProperties>
</file>